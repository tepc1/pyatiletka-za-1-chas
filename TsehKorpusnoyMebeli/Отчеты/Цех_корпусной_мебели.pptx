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6C27464B-F54C-F625-35BF-23A8E0AA218A}">
          <p14:sldIdLst>
            <p14:sldId id="256"/>
            <p14:sldId id="257"/>
            <p14:sldId id="258"/>
            <p14:sldId id="259"/>
          </p14:sldIdLst>
        </p14:section>
        <p14:section name="Проектирование" id="{5F9645C1-0179-B8FA-11FA-F12FFD08ADF9}">
          <p14:sldIdLst>
            <p14:sldId id="260"/>
            <p14:sldId id="261"/>
            <p14:sldId id="262"/>
            <p14:sldId id="263"/>
            <p14:sldId id="264"/>
          </p14:sldIdLst>
        </p14:section>
        <p14:section name="Реализация" id="{0CE071F9-D3B9-B84D-5BA2-C76670834938}">
          <p14:sldIdLst>
            <p14:sldId id="265"/>
            <p14:sldId id="266"/>
            <p14:sldId id="267"/>
          </p14:sldIdLst>
        </p14:section>
        <p14:section name="Качество и итоги" id="{79C58729-6CE5-3D41-7309-3C29EC92F47D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031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ИС «Цех корпусной мебели» · УП06, вариант 11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ИС «Цех корпусной мебели» · УП06, вариант 11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B1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8138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8138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Информационная система «Цех корпусной мебели»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Учебная практика УП06 · ПМ.06 «Сопровождение информационных систем»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6"/>
                </a:solidFill>
              </a:rPr>
              <a:t>Вариант 11 · ASP.NET Core · WinForms · MS SQL Server · .NET 10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[</a:t>
            </a:r>
            <a:r>
              <a:rPr lang="ru-RU" sz="1600" dirty="0" err="1">
                <a:solidFill>
                  <a:schemeClr val="accent6"/>
                </a:solidFill>
              </a:rPr>
              <a:t>Крохалев</a:t>
            </a:r>
            <a:r>
              <a:rPr lang="ru-RU" sz="1600" dirty="0">
                <a:solidFill>
                  <a:schemeClr val="accent6"/>
                </a:solidFill>
              </a:rPr>
              <a:t> И.А.</a:t>
            </a:r>
            <a:r>
              <a:rPr lang="en-US" sz="1600" dirty="0">
                <a:solidFill>
                  <a:schemeClr val="accent6"/>
                </a:solidFill>
              </a:rPr>
              <a:t>] · [</a:t>
            </a:r>
            <a:r>
              <a:rPr lang="ru-RU" sz="1600" dirty="0">
                <a:solidFill>
                  <a:schemeClr val="accent6"/>
                </a:solidFill>
              </a:rPr>
              <a:t>группа: 480ЭС</a:t>
            </a:r>
            <a:r>
              <a:rPr lang="en-US" sz="1600" dirty="0">
                <a:solidFill>
                  <a:schemeClr val="accent6"/>
                </a:solidFill>
              </a:rPr>
              <a:t>] · [</a:t>
            </a:r>
            <a:r>
              <a:rPr lang="ru-RU" sz="1600" dirty="0">
                <a:solidFill>
                  <a:schemeClr val="accent6"/>
                </a:solidFill>
              </a:rPr>
              <a:t>Руководитель практики: Мельникова Ю.А.</a:t>
            </a:r>
            <a:r>
              <a:rPr lang="en-US" sz="1600" dirty="0">
                <a:solidFill>
                  <a:schemeClr val="accent6"/>
                </a:solidFill>
              </a:rPr>
              <a:t>]</a:t>
            </a:r>
            <a:endParaRPr lang="en-US" sz="1600" dirty="0"/>
          </a:p>
        </p:txBody>
      </p:sp>
      <p:sp>
        <p:nvSpPr>
          <p:cNvPr id="6" name="Шкаф"/>
          <p:cNvSpPr/>
          <p:nvPr/>
        </p:nvSpPr>
        <p:spPr>
          <a:xfrm>
            <a:off x="9418320" y="1828800"/>
            <a:ext cx="2194560" cy="274320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7" name="Дверца"/>
          <p:cNvSpPr/>
          <p:nvPr/>
        </p:nvSpPr>
        <p:spPr>
          <a:xfrm>
            <a:off x="9601200" y="2011680"/>
            <a:ext cx="822960" cy="2377440"/>
          </a:xfrm>
          <a:prstGeom prst="rect">
            <a:avLst/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8" name="Ручка"/>
          <p:cNvSpPr/>
          <p:nvPr/>
        </p:nvSpPr>
        <p:spPr>
          <a:xfrm>
            <a:off x="10222992" y="3108960"/>
            <a:ext cx="109728" cy="10972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9" name="Дверца"/>
          <p:cNvSpPr/>
          <p:nvPr/>
        </p:nvSpPr>
        <p:spPr>
          <a:xfrm>
            <a:off x="10515600" y="2011680"/>
            <a:ext cx="822960" cy="2377440"/>
          </a:xfrm>
          <a:prstGeom prst="rect">
            <a:avLst/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0" name="Ручка"/>
          <p:cNvSpPr/>
          <p:nvPr/>
        </p:nvSpPr>
        <p:spPr>
          <a:xfrm>
            <a:off x="10625328" y="3108960"/>
            <a:ext cx="109728" cy="10972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Цель и задачи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Сопровождение ИС цеха: учёт клиентов, изделий, материалов и операций, оформление заказов, расчёт полной стоимости по спецификации и анализ скидок.</a:t>
            </a:r>
            <a:endParaRPr lang="en-US" sz="2200" dirty="0"/>
          </a:p>
        </p:txBody>
      </p:sp>
      <p:sp>
        <p:nvSpPr>
          <p:cNvPr id="4" name="Быстрый расчёт"/>
          <p:cNvSpPr txBox="1"/>
          <p:nvPr/>
        </p:nvSpPr>
        <p:spPr>
          <a:xfrm>
            <a:off x="548640" y="29260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Быстрый расчёт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Сокращение времени расчёта стоимости заказа</a:t>
            </a:r>
            <a:endParaRPr lang="en-US" sz="2000" dirty="0"/>
          </a:p>
        </p:txBody>
      </p:sp>
      <p:sp>
        <p:nvSpPr>
          <p:cNvPr id="5" name="Единый справочник"/>
          <p:cNvSpPr txBox="1"/>
          <p:nvPr/>
        </p:nvSpPr>
        <p:spPr>
          <a:xfrm>
            <a:off x="3374593" y="29260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Единый справочник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Контрагенты: покупатели и поставщики</a:t>
            </a:r>
            <a:endParaRPr lang="en-US" sz="2000" dirty="0"/>
          </a:p>
        </p:txBody>
      </p:sp>
      <p:sp>
        <p:nvSpPr>
          <p:cNvPr id="6" name="Роли доступа"/>
          <p:cNvSpPr txBox="1"/>
          <p:nvPr/>
        </p:nvSpPr>
        <p:spPr>
          <a:xfrm>
            <a:off x="6200546" y="29260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Роли доступа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Admin, Manager, Operator</a:t>
            </a:r>
            <a:endParaRPr lang="en-US" sz="2000" dirty="0"/>
          </a:p>
        </p:txBody>
      </p:sp>
      <p:sp>
        <p:nvSpPr>
          <p:cNvPr id="7" name="REST API и клиент"/>
          <p:cNvSpPr txBox="1"/>
          <p:nvPr/>
        </p:nvSpPr>
        <p:spPr>
          <a:xfrm>
            <a:off x="9026500" y="292608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REST API и клиент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Веб-сервис и настольное приложение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Предметная область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Цех делает корпусную мебель по заказам. У каждого изделия есть спецификация материалов и операций.</a:t>
            </a:r>
            <a:endParaRPr lang="en-US" sz="1800" dirty="0"/>
          </a:p>
        </p:txBody>
      </p:sp>
      <p:graphicFrame>
        <p:nvGraphicFramePr>
          <p:cNvPr id="4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Бизнес-процесс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Описание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Оформление заказа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Клиент заказывает изделия, фиксируются позиции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Потребность в материалах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Расчёт по спецификации и нормам расхода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Расчёт стоимости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Σ(цена × норма × количество)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Учёт контрагентов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Справочник покупателей и поставщиков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Учёт скидок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Скидка по заказу и её процент от суммы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Техническое задание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Разработано по ГОСТ 19.201-78 и ГОСТ 34.602-2020</a:t>
            </a:r>
            <a:endParaRPr lang="en-US" sz="1600" dirty="0"/>
          </a:p>
        </p:txBody>
      </p:sp>
      <p:graphicFrame>
        <p:nvGraphicFramePr>
          <p:cNvPr id="5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Параметр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Значение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СУБД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MS SQL Server (SQLEXPRESS)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Среда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Visual Studio 2026, .NET 10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Язык запросов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T-SQL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Доступ к БД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Windows Authentication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Состав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SQL-скрипты, API, клиент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Роли"/>
          <p:cNvSpPr txBox="1"/>
          <p:nvPr/>
        </p:nvSpPr>
        <p:spPr>
          <a:xfrm>
            <a:off x="7498080" y="2011680"/>
            <a:ext cx="4142232" cy="3401568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203200" tIns="203200" rIns="203200" bIns="20320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Admin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Клиенты, заказы, анализ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Manager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Клиенты, заказы, анализ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Operator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Просмотр заказов и расчёт стоимости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Архитектура решения</a:t>
            </a:r>
            <a:endParaRPr lang="en-US" sz="3600" dirty="0"/>
          </a:p>
        </p:txBody>
      </p:sp>
      <p:sp>
        <p:nvSpPr>
          <p:cNvPr id="3" name="WinForms-клиент"/>
          <p:cNvSpPr txBox="1"/>
          <p:nvPr/>
        </p:nvSpPr>
        <p:spPr>
          <a:xfrm>
            <a:off x="548640" y="201168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4"/>
                </a:solidFill>
              </a:rPr>
              <a:t>WinForms-клиент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net10.0-windows, 6 форм: вход, меню, клиенты, заказы, расчёт, анализ</a:t>
            </a:r>
            <a:endParaRPr lang="en-US" sz="2200" dirty="0"/>
          </a:p>
        </p:txBody>
      </p:sp>
      <p:sp>
        <p:nvSpPr>
          <p:cNvPr id="4" name="Web API"/>
          <p:cNvSpPr txBox="1"/>
          <p:nvPr/>
        </p:nvSpPr>
        <p:spPr>
          <a:xfrm>
            <a:off x="4480560" y="201168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4"/>
                </a:solidFill>
              </a:rPr>
              <a:t>Web API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ASP.NET Core, cookie-сессия, Swagger, контроллеры Auth, Customers, Orders, Analysis</a:t>
            </a:r>
            <a:endParaRPr lang="en-US" sz="2200" dirty="0"/>
          </a:p>
        </p:txBody>
      </p:sp>
      <p:sp>
        <p:nvSpPr>
          <p:cNvPr id="5" name="MS SQL Server"/>
          <p:cNvSpPr txBox="1"/>
          <p:nvPr/>
        </p:nvSpPr>
        <p:spPr>
          <a:xfrm>
            <a:off x="8412480" y="201168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4"/>
                </a:solidFill>
              </a:rPr>
              <a:t>MS SQL Server</a:t>
            </a:r>
            <a:endParaRPr lang="en-US" sz="22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TsehMebeliDB: таблицы, представления, процедуры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accent4"/>
                </a:solidFill>
              </a:rPr>
              <a:t>→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accent4"/>
                </a:solidFill>
              </a:rPr>
              <a:t>→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Все запросы к БД параметризованы, доступ разграничен ролями.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ER-диаграмма</a:t>
            </a:r>
            <a:endParaRPr lang="en-US" sz="3600" dirty="0"/>
          </a:p>
        </p:txBody>
      </p:sp>
      <p:sp>
        <p:nvSpPr>
          <p:cNvPr id="3" name="Рамка диаграммы"/>
          <p:cNvSpPr/>
          <p:nvPr/>
        </p:nvSpPr>
        <p:spPr>
          <a:xfrm>
            <a:off x="548640" y="1325880"/>
            <a:ext cx="7863840" cy="4645152"/>
          </a:xfrm>
          <a:prstGeom prst="roundRect">
            <a:avLst>
              <a:gd name="adj" fmla="val 196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Image 0" descr="ER-диаграмма БД TsehMebeliD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7680960" cy="4460443"/>
          </a:xfrm>
          <a:prstGeom prst="rect">
            <a:avLst/>
          </a:prstGeom>
        </p:spPr>
      </p:pic>
      <p:sp>
        <p:nvSpPr>
          <p:cNvPr id="5" name="Показатель сущностей в модели"/>
          <p:cNvSpPr txBox="1"/>
          <p:nvPr/>
        </p:nvSpPr>
        <p:spPr>
          <a:xfrm>
            <a:off x="8595360" y="1325880"/>
            <a:ext cx="3044952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сущностей в модели</a:t>
            </a:r>
            <a:endParaRPr lang="en-US" sz="4400" dirty="0"/>
          </a:p>
        </p:txBody>
      </p:sp>
      <p:sp>
        <p:nvSpPr>
          <p:cNvPr id="6" name="Цепочка"/>
          <p:cNvSpPr txBox="1"/>
          <p:nvPr/>
        </p:nvSpPr>
        <p:spPr>
          <a:xfrm>
            <a:off x="8595360" y="3520440"/>
            <a:ext cx="3044952" cy="2450592"/>
          </a:xfrm>
          <a:prstGeom prst="roundRect">
            <a:avLst>
              <a:gd name="adj" fmla="val 4478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Цепочка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Заказ → Детали заказа → Изделие → Спецификация → Материалы и операции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Связи и нормализация</a:t>
            </a:r>
            <a:endParaRPr lang="en-US" sz="3600" dirty="0"/>
          </a:p>
        </p:txBody>
      </p:sp>
      <p:graphicFrame>
        <p:nvGraphicFramePr>
          <p:cNvPr id="8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Связь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Тип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Ограничение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 → Order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1:M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Клиент — много заказов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Order → OrderDetail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1:M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Каскадное удаление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 → OrderDetail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1:M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Ссылка на изделие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 → Specification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1:1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UNIQUE(ProductId)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Specification → SpecMaterial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1:M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Каскад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Specification → SpecOperation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1:M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Каскад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1НФ"/>
          <p:cNvSpPr txBox="1"/>
          <p:nvPr/>
        </p:nvSpPr>
        <p:spPr>
          <a:xfrm>
            <a:off x="7772400" y="1371600"/>
            <a:ext cx="38679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1НФ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Атомарные атрибуты; нормы и позиции в отдельных таблицах</a:t>
            </a:r>
            <a:endParaRPr lang="en-US" sz="1800" dirty="0"/>
          </a:p>
        </p:txBody>
      </p:sp>
      <p:sp>
        <p:nvSpPr>
          <p:cNvPr id="5" name="2НФ"/>
          <p:cNvSpPr txBox="1"/>
          <p:nvPr/>
        </p:nvSpPr>
        <p:spPr>
          <a:xfrm>
            <a:off x="7772400" y="2971800"/>
            <a:ext cx="38679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2НФ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Зависимость от полного ключа; UNIQUE(SpecId, MaterialId)</a:t>
            </a:r>
            <a:endParaRPr lang="en-US" sz="1800" dirty="0"/>
          </a:p>
        </p:txBody>
      </p:sp>
      <p:sp>
        <p:nvSpPr>
          <p:cNvPr id="6" name="3НФ"/>
          <p:cNvSpPr txBox="1"/>
          <p:nvPr/>
        </p:nvSpPr>
        <p:spPr>
          <a:xfrm>
            <a:off x="7772400" y="4572000"/>
            <a:ext cx="38679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3НФ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Цены только в Material и Operation; данные клиента в Customer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База данных TsehMebeliDB</a:t>
            </a:r>
            <a:endParaRPr lang="en-US" sz="3600" dirty="0"/>
          </a:p>
        </p:txBody>
      </p:sp>
      <p:sp>
        <p:nvSpPr>
          <p:cNvPr id="3" name="Показатель Клиенты"/>
          <p:cNvSpPr txBox="1"/>
          <p:nvPr/>
        </p:nvSpPr>
        <p:spPr>
          <a:xfrm>
            <a:off x="54864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Клиенты</a:t>
            </a:r>
            <a:endParaRPr lang="en-US" sz="4400" dirty="0"/>
          </a:p>
        </p:txBody>
      </p:sp>
      <p:sp>
        <p:nvSpPr>
          <p:cNvPr id="4" name="Показатель Изделия"/>
          <p:cNvSpPr txBox="1"/>
          <p:nvPr/>
        </p:nvSpPr>
        <p:spPr>
          <a:xfrm>
            <a:off x="3374593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Изделия</a:t>
            </a:r>
            <a:endParaRPr lang="en-US" sz="4400" dirty="0"/>
          </a:p>
        </p:txBody>
      </p:sp>
      <p:sp>
        <p:nvSpPr>
          <p:cNvPr id="5" name="Показатель Материалы"/>
          <p:cNvSpPr txBox="1"/>
          <p:nvPr/>
        </p:nvSpPr>
        <p:spPr>
          <a:xfrm>
            <a:off x="6200546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Материалы</a:t>
            </a:r>
            <a:endParaRPr lang="en-US" sz="4400" dirty="0"/>
          </a:p>
        </p:txBody>
      </p:sp>
      <p:sp>
        <p:nvSpPr>
          <p:cNvPr id="6" name="Показатель Операции"/>
          <p:cNvSpPr txBox="1"/>
          <p:nvPr/>
        </p:nvSpPr>
        <p:spPr>
          <a:xfrm>
            <a:off x="9026500" y="13716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Операции</a:t>
            </a:r>
            <a:endParaRPr lang="en-US" sz="4400" dirty="0"/>
          </a:p>
        </p:txBody>
      </p:sp>
      <p:sp>
        <p:nvSpPr>
          <p:cNvPr id="7" name="Показатель Спецификации"/>
          <p:cNvSpPr txBox="1"/>
          <p:nvPr/>
        </p:nvSpPr>
        <p:spPr>
          <a:xfrm>
            <a:off x="548640" y="33375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Спецификации</a:t>
            </a:r>
            <a:endParaRPr lang="en-US" sz="4400" dirty="0"/>
          </a:p>
        </p:txBody>
      </p:sp>
      <p:sp>
        <p:nvSpPr>
          <p:cNvPr id="8" name="Показатель Нормы материалов"/>
          <p:cNvSpPr txBox="1"/>
          <p:nvPr/>
        </p:nvSpPr>
        <p:spPr>
          <a:xfrm>
            <a:off x="3374593" y="33375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26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Нормы материалов</a:t>
            </a:r>
            <a:endParaRPr lang="en-US" sz="4400" dirty="0"/>
          </a:p>
        </p:txBody>
      </p:sp>
      <p:sp>
        <p:nvSpPr>
          <p:cNvPr id="9" name="Показатель Нормы операций"/>
          <p:cNvSpPr txBox="1"/>
          <p:nvPr/>
        </p:nvSpPr>
        <p:spPr>
          <a:xfrm>
            <a:off x="6200546" y="33375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31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Нормы операций</a:t>
            </a:r>
            <a:endParaRPr lang="en-US" sz="4400" dirty="0"/>
          </a:p>
        </p:txBody>
      </p:sp>
      <p:sp>
        <p:nvSpPr>
          <p:cNvPr id="10" name="Показатель Заказы"/>
          <p:cNvSpPr txBox="1"/>
          <p:nvPr/>
        </p:nvSpPr>
        <p:spPr>
          <a:xfrm>
            <a:off x="9026500" y="33375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Заказы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Порядок скриптов: схема → seed → seed2 → seed3. В скрипте 12 таблиц: к модели добавлена OrderHistory.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Представления и процедуры</a:t>
            </a:r>
            <a:endParaRPr lang="en-US" sz="3600" dirty="0"/>
          </a:p>
        </p:txBody>
      </p:sp>
      <p:sp>
        <p:nvSpPr>
          <p:cNvPr id="3" name="v_OrderFullCost"/>
          <p:cNvSpPr txBox="1"/>
          <p:nvPr/>
        </p:nvSpPr>
        <p:spPr>
          <a:xfrm>
            <a:off x="548640" y="137160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v_OrderFullCost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Полная стоимость позиций заказа: материалы + операции</a:t>
            </a:r>
            <a:endParaRPr lang="en-US" sz="2000" dirty="0"/>
          </a:p>
        </p:txBody>
      </p:sp>
      <p:sp>
        <p:nvSpPr>
          <p:cNvPr id="4" name="v_ClientOrderAnalysis"/>
          <p:cNvSpPr txBox="1"/>
          <p:nvPr/>
        </p:nvSpPr>
        <p:spPr>
          <a:xfrm>
            <a:off x="6199632" y="137160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v_ClientOrderAnalysis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Клиент, изделие, количество, цена, скидка, сумма, % скидки</a:t>
            </a:r>
            <a:endParaRPr lang="en-US" sz="2000" dirty="0"/>
          </a:p>
        </p:txBody>
      </p:sp>
      <p:sp>
        <p:nvSpPr>
          <p:cNvPr id="5" name="sp_CalculateOrderCost"/>
          <p:cNvSpPr txBox="1"/>
          <p:nvPr/>
        </p:nvSpPr>
        <p:spPr>
          <a:xfrm>
            <a:off x="548640" y="315468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sp_CalculateOrderCost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Вход @OrderId, выход @TotalCost DECIMAL(14,2)</a:t>
            </a:r>
            <a:endParaRPr lang="en-US" sz="2000" dirty="0"/>
          </a:p>
        </p:txBody>
      </p:sp>
      <p:sp>
        <p:nvSpPr>
          <p:cNvPr id="6" name="sp_UpdateOrderTotal"/>
          <p:cNvSpPr txBox="1"/>
          <p:nvPr/>
        </p:nvSpPr>
        <p:spPr>
          <a:xfrm>
            <a:off x="6199632" y="315468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sp_UpdateOrderTotal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Обновляет TotalAmount заказа</a:t>
            </a:r>
            <a:endParaRPr lang="en-US" sz="2000" dirty="0"/>
          </a:p>
        </p:txBody>
      </p:sp>
      <p:sp>
        <p:nvSpPr>
          <p:cNvPr id="7" name="Формула"/>
          <p:cNvSpPr txBox="1"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  <p:txBody>
          <a:bodyPr wrap="square" lIns="254000" tIns="254000" rIns="254000" bIns="25400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Стоимость позиции = (материалы + операции) × количество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Web API</a:t>
            </a:r>
            <a:endParaRPr lang="en-US" sz="3600" dirty="0"/>
          </a:p>
        </p:txBody>
      </p:sp>
      <p:graphicFrame>
        <p:nvGraphicFramePr>
          <p:cNvPr id="11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9436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Метод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Путь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Роли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/api/auth/login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все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/api/auth/logout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авторизованные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/api/customers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Admin, Manager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/api/orders, /{id}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все роли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/api/orders/{id}/cost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все роли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/api/analysis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Admin, Manager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Image 0" descr="Swagger UI Цех корпусной мебели API v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4965192" cy="279166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675120" y="425196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Swagger UI: Цех корпусной мебели API v1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WinForms-клиент</a:t>
            </a:r>
            <a:endParaRPr lang="en-US" sz="3600" dirty="0"/>
          </a:p>
        </p:txBody>
      </p:sp>
      <p:sp>
        <p:nvSpPr>
          <p:cNvPr id="3" name="Services"/>
          <p:cNvSpPr txBox="1"/>
          <p:nvPr/>
        </p:nvSpPr>
        <p:spPr>
          <a:xfrm>
            <a:off x="548640" y="1371600"/>
            <a:ext cx="5760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Services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ApiClient, SqlConnectionFactory</a:t>
            </a:r>
            <a:endParaRPr lang="en-US" sz="1800" dirty="0"/>
          </a:p>
        </p:txBody>
      </p:sp>
      <p:sp>
        <p:nvSpPr>
          <p:cNvPr id="4" name="Forms"/>
          <p:cNvSpPr txBox="1"/>
          <p:nvPr/>
        </p:nvSpPr>
        <p:spPr>
          <a:xfrm>
            <a:off x="548640" y="2971800"/>
            <a:ext cx="5760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Forms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LoginForm, MainForm, CustomerForm, OrderForm, OrdersListForm, ClientOrderReportForm</a:t>
            </a:r>
            <a:endParaRPr lang="en-US" sz="1800" dirty="0"/>
          </a:p>
        </p:txBody>
      </p:sp>
      <p:sp>
        <p:nvSpPr>
          <p:cNvPr id="5" name="Utils"/>
          <p:cNvSpPr txBox="1"/>
          <p:nvPr/>
        </p:nvSpPr>
        <p:spPr>
          <a:xfrm>
            <a:off x="548640" y="4572000"/>
            <a:ext cx="5760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Utils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ConfigManager, Logger, UiTheme</a:t>
            </a:r>
            <a:endParaRPr lang="en-US" sz="1800" dirty="0"/>
          </a:p>
        </p:txBody>
      </p:sp>
      <p:pic>
        <p:nvPicPr>
          <p:cNvPr id="6" name="Image 0" descr="Главное меню клиент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4965192" cy="33357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75120" y="480060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Главное меню, роль Admin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Безопасность и роли</a:t>
            </a:r>
            <a:endParaRPr lang="en-US" sz="3600" dirty="0"/>
          </a:p>
        </p:txBody>
      </p:sp>
      <p:sp>
        <p:nvSpPr>
          <p:cNvPr id="3" name="Пароли"/>
          <p:cNvSpPr txBox="1"/>
          <p:nvPr/>
        </p:nvSpPr>
        <p:spPr>
          <a:xfrm>
            <a:off x="548640" y="137160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Пароли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SHA-256 и уникальная соль в таблице User</a:t>
            </a:r>
            <a:endParaRPr lang="en-US" sz="2200" dirty="0"/>
          </a:p>
        </p:txBody>
      </p:sp>
      <p:sp>
        <p:nvSpPr>
          <p:cNvPr id="4" name="SQL"/>
          <p:cNvSpPr txBox="1"/>
          <p:nvPr/>
        </p:nvSpPr>
        <p:spPr>
          <a:xfrm>
            <a:off x="6199632" y="137160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SQL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Только параметризованные запросы, без конкатенации</a:t>
            </a:r>
            <a:endParaRPr lang="en-US" sz="2200" dirty="0"/>
          </a:p>
        </p:txBody>
      </p:sp>
      <p:sp>
        <p:nvSpPr>
          <p:cNvPr id="5" name="Сессии"/>
          <p:cNvSpPr txBox="1"/>
          <p:nvPr/>
        </p:nvSpPr>
        <p:spPr>
          <a:xfrm>
            <a:off x="548640" y="338328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Сессии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Cookie-аутентификация, HttpOnly, SameSite=Lax</a:t>
            </a:r>
            <a:endParaRPr lang="en-US" sz="2200" dirty="0"/>
          </a:p>
        </p:txBody>
      </p:sp>
      <p:sp>
        <p:nvSpPr>
          <p:cNvPr id="6" name="RBAC"/>
          <p:cNvSpPr txBox="1"/>
          <p:nvPr/>
        </p:nvSpPr>
        <p:spPr>
          <a:xfrm>
            <a:off x="6199632" y="338328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RBAC</a:t>
            </a:r>
            <a:endParaRPr lang="en-US" sz="22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Admin, Manager, Operator: Authorize(Roles) на контроллерах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Исправленные ошибки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Протокол: 8 ошибок кодирования и 11 замечаний пользователей</a:t>
            </a:r>
            <a:endParaRPr lang="en-US" sz="1600" dirty="0"/>
          </a:p>
        </p:txBody>
      </p:sp>
      <p:graphicFrame>
        <p:nvGraphicFramePr>
          <p:cNvPr id="14" name="Таблица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Ошибка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Исправление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Риск SQL-инъекций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Только SqlParameter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Пароли в открытом виде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SHA-256 + соль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Swagger отвечал 401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Authorize только на контроллерах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CS0579: дубли AssemblyInfo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Метаданные перенесены в csproj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Падение на нечисловом номере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int.TryParse, проверка id &gt; 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Утечки соединений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using для SqlConnection и HttpResponse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Тестирование и анализ заказов</a:t>
            </a:r>
            <a:endParaRPr lang="en-US" sz="3600" dirty="0"/>
          </a:p>
        </p:txBody>
      </p:sp>
      <p:sp>
        <p:nvSpPr>
          <p:cNvPr id="3" name="Показатель тест-кейсов TC-01…TC-10"/>
          <p:cNvSpPr txBox="1"/>
          <p:nvPr/>
        </p:nvSpPr>
        <p:spPr>
          <a:xfrm>
            <a:off x="548640" y="137160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тест-кейсов TC-01…TC-10</a:t>
            </a:r>
            <a:endParaRPr lang="en-US" sz="4400" dirty="0"/>
          </a:p>
        </p:txBody>
      </p:sp>
      <p:sp>
        <p:nvSpPr>
          <p:cNvPr id="4" name="Показатель экспертных сценариев"/>
          <p:cNvSpPr txBox="1"/>
          <p:nvPr/>
        </p:nvSpPr>
        <p:spPr>
          <a:xfrm>
            <a:off x="4311396" y="137160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6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экспертных сценариев</a:t>
            </a:r>
            <a:endParaRPr lang="en-US" sz="4400" dirty="0"/>
          </a:p>
        </p:txBody>
      </p:sp>
      <p:sp>
        <p:nvSpPr>
          <p:cNvPr id="5" name="Показатель замечаний устранено"/>
          <p:cNvSpPr txBox="1"/>
          <p:nvPr/>
        </p:nvSpPr>
        <p:spPr>
          <a:xfrm>
            <a:off x="8074152" y="1371600"/>
            <a:ext cx="35661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11</a:t>
            </a:r>
            <a:endParaRPr lang="en-US" sz="4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замечаний устранено</a:t>
            </a:r>
            <a:endParaRPr lang="en-US" sz="4400" dirty="0"/>
          </a:p>
        </p:txBody>
      </p:sp>
      <p:sp>
        <p:nvSpPr>
          <p:cNvPr id="6" name="Модуль анализа"/>
          <p:cNvSpPr txBox="1"/>
          <p:nvPr/>
        </p:nvSpPr>
        <p:spPr>
          <a:xfrm>
            <a:off x="548640" y="3154680"/>
            <a:ext cx="11091672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203200" tIns="203200" rIns="203200" bIns="2032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Модуль «АнализЗаказовКлиентов»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Фильтр по клиенту и строка «ИТОГО»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% скидки = скидка / сумма заказа × 100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Зелёный фон при скидке больше 20 %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Доступ по роли «Менеджер», защита от повторного нажатия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Итоги и развитие</a:t>
            </a:r>
            <a:endParaRPr lang="en-US" sz="3600" dirty="0"/>
          </a:p>
        </p:txBody>
      </p:sp>
      <p:sp>
        <p:nvSpPr>
          <p:cNvPr id="3" name="Результат"/>
          <p:cNvSpPr txBox="1"/>
          <p:nvPr/>
        </p:nvSpPr>
        <p:spPr>
          <a:xfrm>
            <a:off x="548640" y="1463040"/>
            <a:ext cx="5440680" cy="25603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4"/>
                </a:solidFill>
              </a:rPr>
              <a:t>Результат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Реализованы учёт клиентов, заказы, расчёт по спецификации, анализ скидок и роли. По протоколу оценки: функциональная полнота, надёжность и безопасность — высокие.</a:t>
            </a:r>
            <a:endParaRPr lang="en-US" sz="2400" dirty="0"/>
          </a:p>
        </p:txBody>
      </p:sp>
      <p:sp>
        <p:nvSpPr>
          <p:cNvPr id="4" name="Направления развития"/>
          <p:cNvSpPr txBox="1"/>
          <p:nvPr/>
        </p:nvSpPr>
        <p:spPr>
          <a:xfrm>
            <a:off x="6199632" y="1463040"/>
            <a:ext cx="5440680" cy="256032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accent5"/>
            </a:solidFill>
          </a:ln>
        </p:spPr>
        <p:txBody>
          <a:bodyPr wrap="square" lIns="177800" tIns="177800" rIns="177800" bIns="1778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accent4"/>
                </a:solidFill>
              </a:rPr>
              <a:t>Направления развития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Печать документов заказа и спецификации; складской учёт материалов; публикация API за IIS или в контейнере.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Работа готова к сдаче на дифференцированный зачёт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seh Mebeli">
  <a:themeElements>
    <a:clrScheme name="Tseh Mebeli">
      <a:dk1>
        <a:srgbClr val="2B1D14"/>
      </a:dk1>
      <a:lt1>
        <a:srgbClr val="FBF8F3"/>
      </a:lt1>
      <a:dk2>
        <a:srgbClr val="3B2A1E"/>
      </a:dk2>
      <a:lt2>
        <a:srgbClr val="FFFFFF"/>
      </a:lt2>
      <a:accent1>
        <a:srgbClr val="B8773A"/>
      </a:accent1>
      <a:accent2>
        <a:srgbClr val="8A4F1F"/>
      </a:accent2>
      <a:accent3>
        <a:srgbClr val="5C7A6B"/>
      </a:accent3>
      <a:accent4>
        <a:srgbClr val="D9A066"/>
      </a:accent4>
      <a:accent5>
        <a:srgbClr val="7A6A5C"/>
      </a:accent5>
      <a:accent6>
        <a:srgbClr val="D9CDBB"/>
      </a:accent6>
      <a:hlink>
        <a:srgbClr val="8A4F1F"/>
      </a:hlink>
      <a:folHlink>
        <a:srgbClr val="7A6A5C"/>
      </a:folHlink>
    </a:clrScheme>
    <a:fontScheme name="Tseh Mebel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</Words>
  <Application>Microsoft Office PowerPoint</Application>
  <PresentationFormat>Широкоэкранный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Tseh Mebeli</vt:lpstr>
      <vt:lpstr>Информационная система «Цех корпусной мебели»</vt:lpstr>
      <vt:lpstr>Цель и задачи</vt:lpstr>
      <vt:lpstr>Предметная область</vt:lpstr>
      <vt:lpstr>Техническое задание</vt:lpstr>
      <vt:lpstr>Архитектура решения</vt:lpstr>
      <vt:lpstr>ER-диаграмма</vt:lpstr>
      <vt:lpstr>Связи и нормализация</vt:lpstr>
      <vt:lpstr>База данных TsehMebeliDB</vt:lpstr>
      <vt:lpstr>Представления и процедуры</vt:lpstr>
      <vt:lpstr>Web API</vt:lpstr>
      <vt:lpstr>WinForms-клиент</vt:lpstr>
      <vt:lpstr>Безопасность и роли</vt:lpstr>
      <vt:lpstr>Исправленные ошибки</vt:lpstr>
      <vt:lpstr>Тестирование и анализ заказов</vt:lpstr>
      <vt:lpstr>Итоги и развитие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 «Цех корпусной мебели»</dc:title>
  <dc:subject>PptxGenJS Presentation</dc:subject>
  <dc:creator>[ФИО студента]</dc:creator>
  <cp:lastModifiedBy>charka</cp:lastModifiedBy>
  <cp:revision>2</cp:revision>
  <dcterms:created xsi:type="dcterms:W3CDTF">2026-10-15T03:15:36Z</dcterms:created>
  <dcterms:modified xsi:type="dcterms:W3CDTF">2026-10-15T03:22:46Z</dcterms:modified>
</cp:coreProperties>
</file>